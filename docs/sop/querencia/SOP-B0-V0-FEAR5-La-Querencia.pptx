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C830"/>
                </a:solidFill>
                <a:latin typeface="Calibri"/>
              </a:rPr>
              <a:t>CACAO COLAB  ×  LA QUERENCIA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7F1EE"/>
                </a:solidFill>
                <a:latin typeface="Georgia"/>
              </a:rPr>
              <a:t>SOP B0 · Versión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F2C830"/>
                </a:solidFill>
                <a:latin typeface="Georgia"/>
              </a:rPr>
              <a:t>Micro-lote FEAR 5 · Curva temperatura vs 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058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7F1EE"/>
                </a:solidFill>
                <a:latin typeface="Calibri"/>
              </a:rPr>
              <a:t>Prueba experimental de 1,5 kg antes del bioreactor.
Objetivo único: validar que la temperatura sube rápido a 45 °C,
se sostiene, y el pH baja lento hasta ≤ 4,5 en 72–96 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E10"/>
                </a:solidFill>
                <a:latin typeface="Calibri"/>
              </a:rPr>
              <a:t>Para: Rafael  ·  Operador de finca / fermentación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172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1A2E10"/>
                </a:solidFill>
                <a:latin typeface="Calibri"/>
              </a:rPr>
              <a:t>Documento V0 ·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1. Para qué sirve esta prueba B0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1A2E10"/>
                </a:solidFill>
                <a:latin typeface="Calibri"/>
              </a:rPr>
              <a:t>•  No es un bioreactor todavía. Es la versión cero: tanque + cesta + termófilas + sol si hace falta.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1A2E10"/>
                </a:solidFill>
                <a:latin typeface="Calibri"/>
              </a:rPr>
              <a:t>•  Validamos UNA hipótesis: curva de temperatura (rápida a 45 °C y estable) vs curva de pH (descenso lento a ≤ 4,5).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1A2E10"/>
                </a:solidFill>
                <a:latin typeface="Calibri"/>
              </a:rPr>
              <a:t>•  Material: FEAR 5 en mini-cosecha (~12 días; la fecha exacta depende del clima).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1A2E10"/>
                </a:solidFill>
                <a:latin typeface="Calibri"/>
              </a:rPr>
              <a:t>•  Escala: 1,5 kg de grano fresco desmucilaginado parcialmente.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1A2E10"/>
                </a:solidFill>
                <a:latin typeface="Calibri"/>
              </a:rPr>
              <a:t>•  Éxito B0 = curvas registradas día a día + dos muestras (72 h y 96 h) para precursores de sabor.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1A2E10"/>
                </a:solidFill>
                <a:latin typeface="Calibri"/>
              </a:rPr>
              <a:t>•  Después miramos B1 (bolsas al vacío + retrocirculador), B2 (tanque brewing/yogur) y B3 (bioreactor ~150 kg).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2. Escalera de versiones (contexto)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C6B52"/>
                </a:solidFill>
                <a:latin typeface="Calibri"/>
              </a:rPr>
              <a:t>Ahora solo ejecutamos B0. Lo demás es mapa de ruta.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2697480" cy="3291840"/>
          </a:xfrm>
          <a:prstGeom prst="roundRect">
            <a:avLst/>
          </a:prstGeom>
          <a:solidFill>
            <a:srgbClr val="F2C83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B0 · V0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6A3D"/>
                </a:solidFill>
                <a:latin typeface="Calibri"/>
              </a:rPr>
              <a:t>1,5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Tanque + cesta
Termófilas / sol
Sin agua en grano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697480" cy="329184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B1 ·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5C6B52"/>
                </a:solidFill>
                <a:latin typeface="Calibri"/>
              </a:rPr>
              <a:t>~1,5–15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08960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Bolsas al vacío
en el mismo tanque
+ agua a 45 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011680"/>
            <a:ext cx="2697480" cy="329184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B2 ·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5C6B52"/>
                </a:solidFill>
                <a:latin typeface="Calibri"/>
              </a:rPr>
              <a:t>~15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Tanque brewing /
yogur / amasado
Temp. constante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11680"/>
            <a:ext cx="2697480" cy="329184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1945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B3 ·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5176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5C6B52"/>
                </a:solidFill>
                <a:latin typeface="Calibri"/>
              </a:rPr>
              <a:t>~150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108960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E10"/>
                </a:solidFill>
                <a:latin typeface="Calibri"/>
              </a:rPr>
              <a:t>Bioreactor tipo
Agrosavia
Escalamiento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3. Qué necesitas (B0)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20624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Tanque de acero inoxidable limpio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Cesta para el grano (sin agua)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Tapa / cobertor para fase anaeróbica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Termómetro (ideal con registro)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pH-metro calibrado + agua destilada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Prensa de algodón (manual)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Cantinas de miel (para mucílago)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Balanza + bolsas para muestras 500 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Bitácora impresa o libreta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420624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Material biológico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FEAR 5 fresco de La Querencia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Carga objetivo: 1,5 kg de grano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Mini-cosecha prevista ~12 días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(ajustar según clima real)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Opción: pasar grano desde el cajón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cuando ya haya ganado calor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hacia el tanque de acero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4. Paso a paso · Preparación (Día 0)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554480"/>
            <a:ext cx="502920" cy="50292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A2E1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Cosechar / seleccionar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7452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52"/>
                </a:solidFill>
                <a:latin typeface="Calibri"/>
              </a:rPr>
              <a:t>Solo FEAR 5 maduro de la mini-cosecha. Anotar fecha, lote y kilos frescos.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423160"/>
            <a:ext cx="502920" cy="50292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A2E1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2316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Quitar ~20 % mucílago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432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52"/>
                </a:solidFill>
                <a:latin typeface="Calibri"/>
              </a:rPr>
              <a:t>Prensa de algodón manual. No lavar con agua. Dejar mucílago residual en el grano.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291839"/>
            <a:ext cx="502920" cy="50292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79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A2E1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91839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Recoger mucílago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611879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52"/>
                </a:solidFill>
                <a:latin typeface="Calibri"/>
              </a:rPr>
              <a:t>Llevar a cantinas de miel. Refrigerar o congelar. Etiquetar: fecha + FEAR 5 + Querencia.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160520"/>
            <a:ext cx="502920" cy="50292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A2E1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605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Cargar la cesta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8056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52"/>
                </a:solidFill>
                <a:latin typeface="Calibri"/>
              </a:rPr>
              <a:t>1,5 kg de grano en la cesta, sin agua, dentro del tanque de acero. Cubrir el cotiledón / masa.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029200"/>
            <a:ext cx="502920" cy="502920"/>
          </a:xfrm>
          <a:prstGeom prst="ellipse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A2E1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292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Arranque térmico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34924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52"/>
                </a:solidFill>
                <a:latin typeface="Calibri"/>
              </a:rPr>
              <a:t>Dejar que las termófilas suban el calor. Si no sube, ayudar al sol (aeróbico) hasta acercarse a 45 °C.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5. Fermentación · Protocolo B0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86400" cy="411480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Fase A · Aeróbica (0–48 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Grano en cesta, sin agua, tapado suave / ventilado.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Meta: subir rápido hacia 45 °C.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Si las termófilas no alcanzan: exposición solar controlada.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Medir temperatura mínimo 2×/día (mañana y tarde).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Medir pH 1×/día (misma hora). Anotar en bitácora.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No agregar agua al grano.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94960" cy="411480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Georgia"/>
              </a:rPr>
              <a:t>Fase B · Anaeróbica (48–96 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Tapar bien (anaeróbico) una vez haya calor.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Sostener lo más cerca posible de 45 °C constantes.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pH debe bajar lento desde el valor inicial → 4,5 mínimo.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Continuar bitácora diaria de T° y pH.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Ventana de muestreo: hora 72 y hora 96.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A2E10"/>
                </a:solidFill>
                <a:latin typeface="Calibri"/>
              </a:rPr>
              <a:t>•  Si a las 72 h ya está ≤ 4,5 y T° estable: tomar muestra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6. Lo que validamos: curvas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023360"/>
          </a:xfrm>
          <a:prstGeom prst="roundRect">
            <a:avLst/>
          </a:prstGeom>
          <a:solidFill>
            <a:srgbClr val="1A2E1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Temperatura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Subir rápido a 45 °C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Mantener ~45 °C durante 72 h (ideal)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Extensión máxima de observación: 96 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Registrar cada medición (hora + °C)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F7F1EE"/>
                </a:solidFill>
                <a:latin typeface="Calibri"/>
              </a:rPr>
              <a:t>•  B0: control manual (termófilas + sol)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402336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2E10"/>
                </a:solidFill>
                <a:latin typeface="Georgia"/>
              </a:rPr>
              <a:t>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Partir del pH inicial real del lote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Bajar lentamente (no forzar con ácidos)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Meta: ≤ 4,5 (mínimo aceptable)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1 medición diaria, misma hora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A2E10"/>
                </a:solidFill>
                <a:latin typeface="Calibri"/>
              </a:rPr>
              <a:t>•  Graficar pH vs horas (junto a T°)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7. Muestreo 72 h y 96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C6B52"/>
                </a:solidFill>
                <a:latin typeface="Calibri"/>
              </a:rPr>
              <a:t>Dos tomas de 500 g para comparar acumulación de precursores de sabor (referencia paper Santander 2025 · FEAR 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394960" cy="2194560"/>
          </a:xfrm>
          <a:prstGeom prst="roundRect">
            <a:avLst/>
          </a:prstGeom>
          <a:solidFill>
            <a:srgbClr val="F2C83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2E10"/>
                </a:solidFill>
                <a:latin typeface="Georgia"/>
              </a:rPr>
              <a:t>Muestra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2E10"/>
                </a:solidFill>
                <a:latin typeface="Calibri"/>
              </a:rPr>
              <a:t>Hora 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E10"/>
                </a:solidFill>
                <a:latin typeface="Calibri"/>
              </a:rPr>
              <a:t>500 g · etiquetar B0-72h · fecha · pH · T°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394960" cy="2194560"/>
          </a:xfrm>
          <a:prstGeom prst="roundRect">
            <a:avLst/>
          </a:prstGeom>
          <a:solidFill>
            <a:srgbClr val="F7F1EE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2E10"/>
                </a:solidFill>
                <a:latin typeface="Georgia"/>
              </a:rPr>
              <a:t>Muestra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6A3D"/>
                </a:solidFill>
                <a:latin typeface="Calibri"/>
              </a:rPr>
              <a:t>Hora 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E10"/>
                </a:solidFill>
                <a:latin typeface="Calibri"/>
              </a:rPr>
              <a:t>500 g · etiquetar B0-96h · fecha · pH · T°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E10"/>
                </a:solidFill>
                <a:latin typeface="Calibri"/>
              </a:rPr>
              <a:t>Conservación: congelar o refrigerar según protocolo de laboratorio acordado.
Más adelante (B1→B3) se mirará el decaimiento de los 7 biomarcadores precursores
y la pérdida por errores de fermentación o transferencia tecnológica entre etapas.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8. Bitácora diaria (imprimir / copiar)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645920"/>
                <a:gridCol w="3657600"/>
                <a:gridCol w="1645920"/>
              </a:tblGrid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Hora / día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T °C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pH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Fase (A/B)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E10"/>
                          </a:solidFill>
                          <a:latin typeface="Calibri"/>
                        </a:rPr>
                        <a:t>Iniciales</a:t>
                      </a:r>
                    </a:p>
                  </a:txBody>
                  <a:tcPr>
                    <a:solidFill>
                      <a:srgbClr val="F2C83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0 h (inicio)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Carga 1,5 kg / mucílago 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24 h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48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A→B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Cierre anaeróbico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72 h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Muestra A 500 g</a:t>
                      </a:r>
                    </a:p>
                  </a:txBody>
                  <a:tcPr>
                    <a:solidFill>
                      <a:srgbClr val="F7F1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7F1E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96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E10"/>
                          </a:solidFill>
                          <a:latin typeface="Calibri"/>
                        </a:rPr>
                        <a:t>Muestra B 500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F2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2C830"/>
                </a:solidFill>
                <a:latin typeface="Georgia"/>
              </a:rPr>
              <a:t>CACAO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7F1EE"/>
                </a:solidFill>
                <a:latin typeface="Calibri"/>
              </a:rPr>
              <a:t>SOP · Fermentación de precisión  ·  Confidencial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2E10"/>
                </a:solidFill>
                <a:latin typeface="Georgia"/>
              </a:rPr>
              <a:t>9. Checklist B0 · Listo cuando…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Bitácora completa de T° y pH (al menos 1 pH/día y 2 T°/día).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Temperatura alcanzó ~45 °C y se sostuvo la mayor parte de 72 h.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pH bajó de forma gradual hasta ≤ 4,5 (o se documentó por qué no).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Muestras A (72 h) y B (96 h) de 500 g etiquetadas y conservadas.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Mucílago (20 %) en cantinas, refrigerado/congelado, con etiqueta.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>
                <a:solidFill>
                  <a:srgbClr val="1A2E10"/>
                </a:solidFill>
                <a:latin typeface="Calibri"/>
              </a:rPr>
              <a:t>•  Fotos del montaje (cesta + tanque) al inicio y al cierre.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72000"/>
            <a:ext cx="11155680" cy="1371600"/>
          </a:xfrm>
          <a:prstGeom prst="roundRect">
            <a:avLst/>
          </a:prstGeom>
          <a:solidFill>
            <a:srgbClr val="1A2E10"/>
          </a:solidFill>
          <a:ln w="12700"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698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1EE"/>
                </a:solidFill>
                <a:latin typeface="Calibri"/>
              </a:rPr>
              <a:t>Siguiente paso: con las curvas de B0 decidimos B1 (bolsas al vacío + retrocirculador de agua a 45 °C).
Rafael ejecuta B0. El Colab interpreta curvas y precursores. Sin B0 no hay B1.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52"/>
                </a:solidFill>
                <a:latin typeface="Calibri"/>
              </a:rPr>
              <a:t>La Querencia · FEAR 5 · B0 / V0  ·  cacaocolab.org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52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