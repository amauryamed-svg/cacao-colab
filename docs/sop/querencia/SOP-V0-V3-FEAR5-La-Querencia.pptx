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5129784" cy="777240"/>
          </a:xfrm>
          <a:prstGeom prst="rect">
            <a:avLst/>
          </a:prstGeom>
        </p:spPr>
      </p:pic>
      <p:pic>
        <p:nvPicPr>
          <p:cNvPr id="5" name="Picture 4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417320"/>
            <a:ext cx="3468189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830"/>
                </a:solidFill>
                <a:latin typeface="Calibri"/>
              </a:rPr>
              <a:t>×  LA QUERENCIA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1EE"/>
                </a:solidFill>
                <a:latin typeface="Georgia"/>
              </a:rPr>
              <a:t>SOP FEAR 5 · Escalera V0 →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C830"/>
                </a:solidFill>
                <a:latin typeface="Georgia"/>
              </a:rPr>
              <a:t>Micro-lote → control térmico → tanque → bioreactor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1EE"/>
                </a:solidFill>
                <a:latin typeface="Calibri"/>
              </a:rPr>
              <a:t>Programa de experimentación en fermentación de precisión.
Validamos curvas de temperatura (45 °C) y pH (≤ 4,5), y luego
la acumulación / decaimiento de precursores de sabor del FEAR 5
(referencia paper Santander 2025 · 7 biomarcadores).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10"/>
                </a:solidFill>
                <a:latin typeface="Calibri"/>
              </a:rPr>
              <a:t>Para: Rafael  ·  Operación de finca / fermentación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172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A2E10"/>
                </a:solidFill>
                <a:latin typeface="Calibri"/>
              </a:rPr>
              <a:t>Documento SOP ·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1. Qué buscamos en todo el programa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Material: FEAR 5 de La Querencia (mini-cosecha ~12 días; la fecha depende del clima).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Hipótesis central: subir rápido a 45 °C, sostener, y bajar el pH lentamente hasta ≤ 4,5 en 72–96 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Quitar ~20 % del mucílago con prensa de algodón; recoger en cantinas de miel; refrigerar/congelar.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Medir T° y pH día a día; muestrear 500 g a las 72 h y 500 g a las 96 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Agrupar los 7 biomarcadores precursores de sabor (paper Santander 2025) y ver su decaimiento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    cuando hay error de fermentación o pérdida al pasar de V0→V1→V2→V3.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Escala de masa: 1,5 kg (V0/V1) → ~15 kg (V2) → ~150 kg (V3 bioreactor tipo Agrosavia).</a:t>
            </a:r>
          </a:p>
        </p:txBody>
      </p:sp>
      <p:pic>
        <p:nvPicPr>
          <p:cNvPr id="8" name="Picture 7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2. Mapa de versiones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52"/>
                </a:solidFill>
                <a:latin typeface="Calibri"/>
              </a:rPr>
              <a:t>Cada versión valida una cosa. No saltar etapas.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697480" cy="3840480"/>
          </a:xfrm>
          <a:prstGeom prst="roundRect">
            <a:avLst/>
          </a:prstGeom>
          <a:solidFill>
            <a:srgbClr val="F2C83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V0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3D"/>
                </a:solidFill>
                <a:latin typeface="Calibri"/>
              </a:rPr>
              <a:t>B0 · 1,5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Tanque + cesta
Termófilas / sol
Control manual
T° vs 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20240"/>
            <a:ext cx="2697480" cy="384048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B52"/>
                </a:solidFill>
                <a:latin typeface="Calibri"/>
              </a:rPr>
              <a:t>B1 · 1,5–15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089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Bolsas al vacío
en el mismo tanque
+ retrocirculador
de agua a 45 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2697480" cy="384048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B52"/>
                </a:solidFill>
                <a:latin typeface="Calibri"/>
              </a:rPr>
              <a:t>B2 · ~15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Tanque brewing /
yogur / amasado
Temp. constante
45 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920240"/>
            <a:ext cx="2697480" cy="384048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B52"/>
                </a:solidFill>
                <a:latin typeface="Calibri"/>
              </a:rPr>
              <a:t>B3 · ~150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1089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Bioreactor
estilo Agrosavia
Escalamiento
tecnificado</a:t>
            </a:r>
          </a:p>
        </p:txBody>
      </p:sp>
      <p:pic>
        <p:nvPicPr>
          <p:cNvPr id="24" name="Picture 23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3. V0 · Qué validamos (solo esto)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1188720"/>
          </a:xfrm>
          <a:prstGeom prst="roundRect">
            <a:avLst/>
          </a:prstGeom>
          <a:solidFill>
            <a:srgbClr val="F2C83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Calibri"/>
              </a:rPr>
              <a:t>Assumption V0: la temperatura puede subir rápido a 45 °C y sostenerse,
mientras el pH baja lento hasta ≤ 4,5 entre 72 y 96 horas — sin bioreactor.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Montaje: tanque de acero + cesta con 1,5 kg de grano FEAR 5, sin agua, tapado.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Calor: bacterias termófilas. Si no alcanza 45 °C → ayudar al sol (aeróbico).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0–48 h aeróbico (arranque). Luego anaeróbico tapado hasta 72–96 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Opción: pasar grano desde el cajón cuando ya tenga calor hacia el tanque.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Éxito V0 = bitácora T°/pH + muestras 72 h y 96 h. Sin V0 no hay V1.</a:t>
            </a:r>
          </a:p>
        </p:txBody>
      </p:sp>
      <p:pic>
        <p:nvPicPr>
          <p:cNvPr id="10" name="Picture 9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4. V0 · Materiales y preparación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486400" cy="429768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Tanque acero inoxidable limpio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Cesta (grano sin agua)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Tapa / cobertor anaeróbico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Termómetro + pH-metro calibrado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Prensa de algodón manual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Cantinas de miel (mucílago)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Balanza + bolsas 500 g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Bitácora / libreta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94960" cy="429768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Día 0 · Preparación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Cosechar FEAR 5 maduro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Quitar ~20 % mucílago (prensa)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No lavar el grano con agua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Mucílago → cantinas → frío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Cargar 1,5 kg en cesta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Cubrir cotiledón / masa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Arranque térmico (termófilas/sol)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Anotar lote, fecha, kilos</a:t>
            </a:r>
          </a:p>
        </p:txBody>
      </p:sp>
      <p:pic>
        <p:nvPicPr>
          <p:cNvPr id="13" name="Picture 12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5. V0 · Protocolo de fermentación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486400" cy="429768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Fase A · Aeróbica 0–48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Grano en cesta, sin agua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Meta: subir rápido a 45 °C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Si no sube: sol controlado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T° mínimo 2×/día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pH 1×/día (misma hora)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No agregar agua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94960" cy="4297680"/>
          </a:xfrm>
          <a:prstGeom prst="roundRect">
            <a:avLst/>
          </a:prstGeom>
          <a:solidFill>
            <a:srgbClr val="1A2E1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C830"/>
                </a:solidFill>
                <a:latin typeface="Georgia"/>
              </a:rPr>
              <a:t>Fase B · Anaeróbica 48–96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Tapar bien (anaeróbico)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Sostener ~45 °C constantes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pH baja lento → ≤ 4,5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Seguir bitácora diaria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72 h → Muestra A (500 g)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96 h → Muestra B (500 g)</a:t>
            </a:r>
          </a:p>
        </p:txBody>
      </p:sp>
      <p:pic>
        <p:nvPicPr>
          <p:cNvPr id="13" name="Picture 12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6. V0 · Checklist de cierre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463040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Bitácora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556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T° (≥2/día) y pH (1/día) de 0 a 96 h, con iniciales.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67712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408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677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Curva de temperatura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60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Llegó a ~45 °C y se sostuvo la mayor parte de las 72 h.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072384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45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07238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Curva de 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649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Bajó gradual hasta ≤ 4,5 — o se documentó por qué no.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877056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502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7705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Dos muestras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696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500 g a 72 h y 500 g a 96 h, etiquetadas y conservadas.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681728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754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8172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Mucílago guardado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97433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Cantinas etiquetadas (fecha · FEAR 5 · Querencia) en frío.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5486400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59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48640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Fotos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Montaje inicial (cesta/tanque) y cierre. Listo para decidir V1.</a:t>
            </a:r>
          </a:p>
        </p:txBody>
      </p:sp>
      <p:pic>
        <p:nvPicPr>
          <p:cNvPr id="31" name="Picture 30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7. V1 · Temperatura constante con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1097280"/>
          </a:xfrm>
          <a:prstGeom prst="roundRect">
            <a:avLst/>
          </a:prstGeom>
          <a:solidFill>
            <a:srgbClr val="F2C83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10"/>
                </a:solidFill>
                <a:latin typeface="Calibri"/>
              </a:rPr>
              <a:t>Assumption V1: con grano en bolsas al vacío dentro del mismo tanque,
un retrocirculador de agua a 45 °C sostiene la temperatura sin depender del 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Solo después de V0 aprobado (curvas entendidas).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Grano FEAR 5 en bolsas al vacío (sub-B) dentro del tanque de acero.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Agua recirculando alrededor de las bolsas a setpoint 45 °C.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Misma lógica de pH (descenso lento a ≤ 4,5) y muestreo 72 h / 96 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Comparamos vs V0: ¿menos variación de T°? ¿mejor o peor precursor?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Escala aún micro / piloto (1,5–15 kg según capacidad del tanque).</a:t>
            </a:r>
          </a:p>
        </p:txBody>
      </p:sp>
      <p:pic>
        <p:nvPicPr>
          <p:cNvPr id="10" name="Picture 9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8. V1 · Paso a paso para Rafael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417320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Preparar igual que V0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0992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Mucílago ~20 %, cantinas, etiquetas. Grano listo y limpio.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21992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951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219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Envasar al vacío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146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Porciones en bolsas al vacío (sub-B). Sin agua libre dentro de la bolsa.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026664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998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02666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Montar baño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192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Bolsas dentro del tanque. Agua alrededor. Retrocirculador a 45 °C.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831336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04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3133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Correr 72–96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2394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Registrar T° del agua/grano y pH del lote según protocolo acordado.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636008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3600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Muestrear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92861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500 g a 72 h y 500 g a 96 h. Comparar con las muestras V0.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5440680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13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44068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Decidir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73328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Si T° es estable y pH llega: pasar a tanque brewing/yogur (~15 kg).</a:t>
            </a:r>
          </a:p>
        </p:txBody>
      </p:sp>
      <p:pic>
        <p:nvPicPr>
          <p:cNvPr id="31" name="Picture 30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9. V2 · Tanque tipo brewing / yogur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1097280"/>
          </a:xfrm>
          <a:prstGeom prst="roundRect">
            <a:avLst/>
          </a:prstGeom>
          <a:solidFill>
            <a:srgbClr val="F2C83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10"/>
                </a:solidFill>
                <a:latin typeface="Calibri"/>
              </a:rPr>
              <a:t>Assumption V2: un tanque de cervecería, amasado o fermentación de yogur
mantiene 45 °C constante a escala ~15 kg, acercándonos al bioreactor.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Equipo: tanque con control térmico (jacket / resistencia / baño) a 45 °C.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Carga objetivo ~15 kg de FEAR 5 preparado (misma lógica de mucílago 20 %).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Protocolo de fases: arranque aeróbico corto si aplica → anaeróbico tapado.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Misma bitácora T°/pH; mismas ventanas 72 h y 96 h para muestras.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Pregunta clave: ¿se conservan los precursores al subir de 1,5 kg a 15 kg?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Documentar cualquier error de fermentación o pérdida por transferencia.</a:t>
            </a:r>
          </a:p>
        </p:txBody>
      </p:sp>
      <p:pic>
        <p:nvPicPr>
          <p:cNvPr id="10" name="Picture 9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E10"/>
                </a:solidFill>
                <a:latin typeface="Georgia"/>
              </a:rPr>
              <a:t>10. V3 · Bioreactor ~150 kg (Agrosavia-style)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1097280"/>
          </a:xfrm>
          <a:prstGeom prst="roundRect">
            <a:avLst/>
          </a:prstGeom>
          <a:solidFill>
            <a:srgbClr val="F2C83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10"/>
                </a:solidFill>
                <a:latin typeface="Calibri"/>
              </a:rPr>
              <a:t>Assumption V3: el protocolo ya validado en V0–V2 escala a un bioreactor
tecnificado (~150 kg) sin perder el perfil de precursores del FEAR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Equipo: bioreactor / fermentador tecnificado (referencia tipo Agrosavia).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Setpoint 45 °C controlado; monitoreo continuo de T° y pH.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SOP de planta: limpieza, carga, muestreo, trazabilidad de lote.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Comparar biomarcadores V0→V1→V2→V3: acumulación vs decaimiento.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Si hay pérdida: ¿error de fermentación o transferencia tecnológica?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V3 es escalamiento, no inventar de cero: hereda setpoints de V0–V2.</a:t>
            </a:r>
          </a:p>
        </p:txBody>
      </p:sp>
      <p:pic>
        <p:nvPicPr>
          <p:cNvPr id="10" name="Picture 9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E10"/>
                </a:solidFill>
                <a:latin typeface="Georgia"/>
              </a:rPr>
              <a:t>11. Precursores · qué medimos entre versiones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Referencia: paper Santander 2025 · FEAR 5 · 7 biomarcadores precursores de sabor.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En V0 solo acumulamos evidencia de curvas + muestras 72/96 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Desde V1 comparamos: misma genética, distinto control térmico.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Buscamos agrupar precursores y detectar decaimiento por etapa (V0→V3).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79476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291840"/>
                <a:gridCol w="420624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Versión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Escala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Control T°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Pregunta de validación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1,5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Termófilas / sol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¿Sube a 45 °C y baja pH?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1,5–15 kg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Agua 45 °C + vacío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¿T° más estable que V0?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~15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Tanque brewing/yogur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¿Precursores aguantan escala?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~150 kg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Bioreactor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¿Se escala sin decaer?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E10"/>
                </a:solidFill>
                <a:latin typeface="Georgia"/>
              </a:rPr>
              <a:t>12. Bitácora común (todas las versiones)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188720"/>
                <a:gridCol w="1188720"/>
                <a:gridCol w="1371600"/>
                <a:gridCol w="3657600"/>
                <a:gridCol w="146304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Versión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Hora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T °C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pH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E10"/>
                          </a:solidFill>
                          <a:latin typeface="Calibri"/>
                        </a:rPr>
                        <a:t>Iniciales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Carga 1,5 kg / −20% mucílago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48 h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A→B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Cierre anaeróbico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72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Muestra A 500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96 h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Muestra B 500 g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V1…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0"/>
                          </a:solidFill>
                          <a:latin typeface="Calibri"/>
                        </a:rPr>
                        <a:t>Repetir filas por 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374172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56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FEAR 5 · Escalera V0–V3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13. Orden de trabajo para Rafael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V0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Ahora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4708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1,5 kg · tanque + cesta · termófilas/sol · curvas T°/pH · muestras 72/96 h.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359152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323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591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Después de V0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Bolsas al vacío + retrocirculador de agua a 45 °C en el mismo tanque.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163824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369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6382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Después de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564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Tanque brewing/yogur ~15 kg con temperatura constante.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968496"/>
            <a:ext cx="457200" cy="45720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10"/>
                </a:solidFill>
                <a:latin typeface="Calibri"/>
              </a:rPr>
              <a:t>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96849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E10"/>
                </a:solidFill>
                <a:latin typeface="Georgia"/>
              </a:rPr>
              <a:t>Después de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26110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52"/>
                </a:solidFill>
                <a:latin typeface="Calibri"/>
              </a:rPr>
              <a:t>Bioreactor ~150 kg · escalar sin perder precursores FEAR 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37760"/>
            <a:ext cx="11155680" cy="1097280"/>
          </a:xfrm>
          <a:prstGeom prst="roundRect">
            <a:avLst/>
          </a:prstGeom>
          <a:solidFill>
            <a:srgbClr val="1A2E1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7F1EE"/>
                </a:solidFill>
                <a:latin typeface="Calibri"/>
              </a:rPr>
              <a:t>Regla Colab: una versión a la vez. Rafael ejecuta. El Colab interpreta curvas y precursores.
Mini-cosecha FEAR 5 en ~12 días (clima manda). Arrancamos en V0.</a:t>
            </a:r>
          </a:p>
        </p:txBody>
      </p:sp>
      <p:pic>
        <p:nvPicPr>
          <p:cNvPr id="25" name="Picture 24" descr="squirrel-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308283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Cacao Colab  ·  La Querencia · FEAR 5 · V0→V3  ·  cacaocolab.org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